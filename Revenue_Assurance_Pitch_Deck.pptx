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1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  <a:latin typeface="Book Antiqua"/>
              </a:defRPr>
            </a:pPr>
            <a:r>
              <a:t>Stop the Leaks: Enterprise Revenue Assurance</a:t>
            </a:r>
          </a:p>
          <a:p>
            <a:pPr>
              <a:spcAft>
                <a:spcPts val="4000"/>
              </a:spcAft>
              <a:defRPr sz="1800">
                <a:solidFill>
                  <a:srgbClr val="0D9488"/>
                </a:solidFill>
                <a:latin typeface="Book Antiqua"/>
              </a:defRPr>
            </a:pPr>
            <a:r>
              <a:t>Plug-and-Play Billing Audits, Automated Contract Enforcement, and Leakage Prevention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Book Antiqua"/>
              </a:defRPr>
            </a:pPr>
            <a:r>
              <a:t>Presented by: Bihani Rashmi &amp; Co, Chartered Accountants</a:t>
            </a:r>
          </a:p>
          <a:p>
            <a:pPr>
              <a:defRPr sz="1200" b="1">
                <a:solidFill>
                  <a:srgbClr val="64748B"/>
                </a:solidFill>
                <a:latin typeface="Book Antiqua"/>
              </a:defRPr>
            </a:pPr>
            <a:r>
              <a:t>SECURE  ·  LOCAL  ·  INSTANT  ·  ZERO LEAKAGE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The Industry Problem: Silent Margin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E293B"/>
                </a:solidFill>
                <a:latin typeface="Book Antiqua"/>
              </a:defRPr>
            </a:pPr>
            <a:r>
              <a:t>Hospital groups lose 3% to 7% of their top-line revenue annually to manual billing inefficiencies and contract mismatches.</a:t>
            </a:r>
          </a:p>
          <a:p>
            <a:pPr>
              <a:defRPr sz="1300">
                <a:solidFill>
                  <a:srgbClr val="64748B"/>
                </a:solidFill>
                <a:latin typeface="Book Antiqua"/>
              </a:defRPr>
            </a:pPr>
            <a:r>
              <a:t>Auditing hundreds of bills manually leads to spot-checking rather than full auditing coverage. It is operationally impossible for staff to keep track of varying rates and exclusions, resulting in permanent financial losses.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27432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Book Antiqua"/>
              </a:defRPr>
            </a:pPr>
            <a:r>
              <a:t>Revenue Leakage</a:t>
            </a:r>
          </a:p>
          <a:p>
            <a:pPr>
              <a:defRPr sz="1050">
                <a:solidFill>
                  <a:srgbClr val="1E293B"/>
                </a:solidFill>
                <a:latin typeface="Book Antiqua"/>
              </a:defRPr>
            </a:pPr>
            <a:r>
              <a:t>Unapplied contract discounts, missed ward caps, and unbilled items drain profitability line-by-line.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7432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73736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Book Antiqua"/>
              </a:defRPr>
            </a:pPr>
            <a:r>
              <a:t>Contract Complexity</a:t>
            </a:r>
          </a:p>
          <a:p>
            <a:pPr>
              <a:defRPr sz="1050">
                <a:solidFill>
                  <a:srgbClr val="1E293B"/>
                </a:solidFill>
                <a:latin typeface="Book Antiqua"/>
              </a:defRPr>
            </a:pPr>
            <a:r>
              <a:t>Multi-tiered insurance plans, GIPSA schedules, and corporate agreements are too complex for manual checkers.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840480"/>
            <a:ext cx="27432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393192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Book Antiqua"/>
              </a:defRPr>
            </a:pPr>
            <a:r>
              <a:t>Audit Bottlenecks</a:t>
            </a:r>
          </a:p>
          <a:p>
            <a:pPr>
              <a:defRPr sz="1050">
                <a:solidFill>
                  <a:srgbClr val="1E293B"/>
                </a:solidFill>
                <a:latin typeface="Book Antiqua"/>
              </a:defRPr>
            </a:pPr>
            <a:r>
              <a:t>A typical auditor takes hours checking a single bill, preventing 100% audit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840480"/>
            <a:ext cx="27432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393192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Book Antiqua"/>
              </a:defRPr>
            </a:pPr>
            <a:r>
              <a:t>Compliance Penalties</a:t>
            </a:r>
          </a:p>
          <a:p>
            <a:pPr>
              <a:defRPr sz="1050">
                <a:solidFill>
                  <a:srgbClr val="1E293B"/>
                </a:solidFill>
                <a:latin typeface="Book Antiqua"/>
              </a:defRPr>
            </a:pPr>
            <a:r>
              <a:t>Overcharging corporate payers leads to payment blocks, delayed collections, and strained B2B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The Solution: Automated Revenue Audit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E293B"/>
                </a:solidFill>
                <a:latin typeface="Book Antiqua"/>
              </a:defRPr>
            </a:pPr>
            <a:r>
              <a:t>A lightweight, enterprise-ready desktop solution that audits 100% of your billing lines in sub-seconds—completely offline and secure.</a:t>
            </a:r>
          </a:p>
          <a:p>
            <a:pPr>
              <a:defRPr sz="1200" b="1">
                <a:solidFill>
                  <a:srgbClr val="0D9488"/>
                </a:solidFill>
                <a:latin typeface="Book Antiqua"/>
              </a:defRPr>
            </a:pPr>
            <a:r>
              <a:t>✔  100% Local Execution: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 The application runs entirely inside local Electron shells on standard workstations. No data exits your network.</a:t>
            </a:r>
          </a:p>
          <a:p>
            <a:pPr>
              <a:defRPr sz="1200" b="1">
                <a:solidFill>
                  <a:srgbClr val="0D9488"/>
                </a:solidFill>
                <a:latin typeface="Book Antiqua"/>
              </a:defRPr>
            </a:pPr>
            <a:r>
              <a:t>✔  No central database required: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 Uses an encrypted, local SQLite storage engine, preserving existing host environments.</a:t>
            </a:r>
          </a:p>
          <a:p>
            <a:pPr>
              <a:defRPr sz="1200" b="1">
                <a:solidFill>
                  <a:srgbClr val="0D9488"/>
                </a:solidFill>
                <a:latin typeface="Book Antiqua"/>
              </a:defRPr>
            </a:pPr>
            <a:r>
              <a:t>✔  Zero Internet dependency: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 Functions completely offline. No patient data or tariff configurations are uploaded to external clouds.</a:t>
            </a:r>
          </a:p>
          <a:p>
            <a:pPr>
              <a:defRPr sz="1200" b="1">
                <a:solidFill>
                  <a:srgbClr val="0D9488"/>
                </a:solidFill>
                <a:latin typeface="Book Antiqua"/>
              </a:defRPr>
            </a:pPr>
            <a:r>
              <a:t>✔  Fast-Track Deployment: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 System Admins can authorize and deploy the portal in under 15 minutes without infrastructure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645920"/>
            <a:ext cx="4876495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510735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rPr dirty="0"/>
              <a:t>REVENUE ASSURANCE ENGINE LOG  [ONLINE]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rPr dirty="0"/>
              <a:t>&gt; Initializing database sync...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rPr dirty="0"/>
              <a:t>&gt; Loading custom agreements &amp; SOC mapping guides...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rPr dirty="0"/>
              <a:t>&gt; Parsing file: </a:t>
            </a:r>
            <a:r>
              <a:rPr lang="en-US" dirty="0"/>
              <a:t>Hospital</a:t>
            </a:r>
            <a:r>
              <a:rPr dirty="0"/>
              <a:t>_Billing_July.xlsx (2,450 rows)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rPr dirty="0"/>
              <a:t>&gt; Running 11-step audit validation pipeline...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Book Antiqua"/>
              </a:defRPr>
            </a:pPr>
            <a:r>
              <a:rPr dirty="0"/>
              <a:t>&gt; Validation check completed in 142 milliseconds!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rPr dirty="0"/>
              <a:t>&gt; Discrepancies detected: 48 items flagged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Book Antiqua"/>
              </a:defRPr>
            </a:pPr>
            <a:r>
              <a:rPr dirty="0"/>
              <a:t>&gt; Est. Billing Recovery Action: INR 1,82,450.00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11-Step Rule Enforcement &amp; Matching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1E293B"/>
                </a:solidFill>
                <a:latin typeface="Book Antiqua"/>
              </a:defRPr>
            </a:pPr>
            <a:r>
              <a:t>The validation engine automatically processes every transaction line against the exact terms of corporate agreements: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Agreement Window Check: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Ensures billing occurs within contract validity periods, flagging expired rates.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Bed &amp; Room Rent Audit: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Automatically maps patient ward categories against negotiated bed rates to detect overages.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Department Discounts: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Enforces agreed division cuts (e.g. flat 15% discount for Pathology/Diagnostics).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Service Override Matches: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Enforces item-specific custom rates or custom fixed caps declared on the contract.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Package Exclusions: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Identifies procedures billed separately that are already bundled in packages.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Complex OT Slab Computes: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Validates time-duration slabs (A-K grades) and compares against surgeon fees.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Anesthesia Ratio Enforcement: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Verifies anesthetist fees match the surgeon-to-anesthesia fee ratios (35% cap).</a:t>
            </a:r>
          </a:p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■  Fuzzy Name Resolution: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Book Antiqua"/>
              </a:defRPr>
            </a:pPr>
            <a:r>
              <a:t>    Resolves description differences (e.g. typos, shortcuts) to correct target database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Fluid Workspaces &amp; Role-Based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E293B"/>
                </a:solidFill>
                <a:latin typeface="Book Antiqua"/>
              </a:defRPr>
            </a:pPr>
            <a:r>
              <a:t>Designed for seamless day-to-day operation by audit personnel, separating workloads by role and privileges: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•  Auditor Workspace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Uploads billing sheets, triggers verification, adds manual remarks, and saves drafts. Restricted from locking or approving audit results.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•  Approver Workspace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Reviews Auditor drafts, locks finalized logs (tamper-proof), reopens records for correction, and exports spreadsheet reports.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•  Administrator Workspace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Manages user credential directories, maps role access privileges, and executes system backups or database restores.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150815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78505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Book Antiqua"/>
              </a:defRPr>
            </a:pPr>
            <a:r>
              <a:t>Unified Management Console Dashboard</a:t>
            </a:r>
          </a:p>
          <a:p>
            <a:pPr>
              <a:defRPr sz="1150" b="1">
                <a:solidFill>
                  <a:srgbClr val="0D9488"/>
                </a:solidFill>
                <a:latin typeface="Book Antiqua"/>
              </a:defRPr>
            </a:pPr>
            <a:r>
              <a:t>■  Agreement Config Panel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Book Antiqua"/>
              </a:defRPr>
            </a:pPr>
            <a:r>
              <a:t>   Configure flat discounts, services, and room rent caps.</a:t>
            </a:r>
          </a:p>
          <a:p>
            <a:pPr>
              <a:defRPr sz="1150" b="1">
                <a:solidFill>
                  <a:srgbClr val="0D9488"/>
                </a:solidFill>
                <a:latin typeface="Book Antiqua"/>
              </a:defRPr>
            </a:pPr>
            <a:r>
              <a:t>■  Audit Summary Grid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Book Antiqua"/>
              </a:defRPr>
            </a:pPr>
            <a:r>
              <a:t>   Visual counters showing flag counts (e.g. Overcharged count).</a:t>
            </a:r>
          </a:p>
          <a:p>
            <a:pPr>
              <a:defRPr sz="1150" b="1">
                <a:solidFill>
                  <a:srgbClr val="0D9488"/>
                </a:solidFill>
                <a:latin typeface="Book Antiqua"/>
              </a:defRPr>
            </a:pPr>
            <a:r>
              <a:t>■  Backups &amp; Activity Log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Book Antiqua"/>
              </a:defRPr>
            </a:pPr>
            <a:r>
              <a:t>   Complete historical logs of actions by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Manpower Optimization &amp; Audit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Metric / Variable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Manual Check Process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Assurance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Audit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2 - 3 hours per patient bill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D9488"/>
                          </a:solidFill>
                          <a:latin typeface="Book Antiqua"/>
                        </a:defRPr>
                      </a:pPr>
                      <a:r>
                        <a:t>&lt; 1 second per 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99.9% Faster validation cycles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Audit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Random spot-sampling (~10%)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D9488"/>
                          </a:solidFill>
                          <a:latin typeface="Book Antiqua"/>
                        </a:defRPr>
                      </a:pPr>
                      <a:r>
                        <a:t>100% of billing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Zero leaks go undetected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Execution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5% - 10% human oversight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D9488"/>
                          </a:solidFill>
                          <a:latin typeface="Book Antiqua"/>
                        </a:defRPr>
                      </a:pPr>
                      <a:r>
                        <a:t>0% calculation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100% consistent contract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Staff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Large administrative billing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D9488"/>
                          </a:solidFill>
                          <a:latin typeface="Book Antiqua"/>
                        </a:defRPr>
                      </a:pPr>
                      <a:r>
                        <a:t>Single console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Audit staff shifts to recoveries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Accuracy &amp; Consistency: Eliminating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E293B"/>
                </a:solidFill>
                <a:latin typeface="Book Antiqua"/>
              </a:defRPr>
            </a:pPr>
            <a:r>
              <a:t>By shifting verification from human estimation to standardized database matching rules, the system ensures total accuracy: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■  Fuzzy Name Resolution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Automatically links spelling variations (e.g. 'URINE ROUTINE (CUE)' to 'URINE ROUTINE') in the database, avoiding missed discrepancies due to input syntax typos.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■  Zero-Tolerance Slab Calculations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Complex OT durations and per-day ICU bed allocations are calculated using precise mathematical formulas.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■  Strict Governance Locks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Once audit records are approved by a Manager, they are locked. No Auditor can modify or delete approved logs, ensuring transaction-level data integrity.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33695" cy="411480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679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1">
                <a:solidFill>
                  <a:srgbClr val="0D9488"/>
                </a:solidFill>
                <a:latin typeface="Book Antiqua"/>
              </a:defRPr>
            </a:pPr>
            <a:r>
              <a:t>SIMULATED FUZZY MATCH RESOLUTION</a:t>
            </a:r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t>INPUT BILL ROW:</a:t>
            </a:r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t>  Service: URINE ROUTINE (CUE)  |  Billed: INR 250</a:t>
            </a:r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endParaRPr/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t>RESOLVING AGAINST MASTER SOC...</a:t>
            </a:r>
          </a:p>
          <a:p>
            <a:pPr>
              <a:spcAft>
                <a:spcPts val="500"/>
              </a:spcAft>
              <a:defRPr sz="1000" b="1">
                <a:solidFill>
                  <a:srgbClr val="EF4444"/>
                </a:solidFill>
                <a:latin typeface="Book Antiqua"/>
              </a:defRPr>
            </a:pPr>
            <a:r>
              <a:t>  Fuzzy Match Found -&gt; URINE ROUTINE (ServiceID: 220)</a:t>
            </a:r>
          </a:p>
          <a:p>
            <a:pPr>
              <a:spcAft>
                <a:spcPts val="500"/>
              </a:spcAft>
              <a:defRPr sz="1000" b="1">
                <a:solidFill>
                  <a:srgbClr val="10B981"/>
                </a:solidFill>
                <a:latin typeface="Book Antiqua"/>
              </a:defRPr>
            </a:pPr>
            <a:r>
              <a:t>  Expected Contract Rate: INR 210</a:t>
            </a:r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endParaRPr/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t>CALCULATING VARIANCE...</a:t>
            </a:r>
          </a:p>
          <a:p>
            <a:pPr>
              <a:spcAft>
                <a:spcPts val="500"/>
              </a:spcAft>
              <a:defRPr sz="1000" b="1">
                <a:solidFill>
                  <a:srgbClr val="EF4444"/>
                </a:solidFill>
                <a:latin typeface="Book Antiqua"/>
              </a:defRPr>
            </a:pPr>
            <a:r>
              <a:t>  Variance Detected: +INR 40  |  Status: Overcharged (OC)</a:t>
            </a:r>
          </a:p>
          <a:p>
            <a:pPr>
              <a:spcAft>
                <a:spcPts val="500"/>
              </a:spcAft>
              <a:defRPr sz="1000">
                <a:solidFill>
                  <a:srgbClr val="F8FAFC"/>
                </a:solidFill>
                <a:latin typeface="Book Antiqua"/>
              </a:defRPr>
            </a:pPr>
            <a:r>
              <a:t>  System Action: Flags overcharge in recovery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Dispute Resolution &amp; Reconciliation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E293B"/>
                </a:solidFill>
                <a:latin typeface="Book Antiqua"/>
              </a:defRPr>
            </a:pPr>
            <a:r>
              <a:t>Convert raw audit findings into immediately recoverable cash with standardized reconciliation exports: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✔  Exception Summary Exports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Filter and export specific exceptions (e.g. only overcharges or missing discounts) to send directly to insurance adjusters.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✔  One-Click Excel Reconciliation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Generates clean Excel spreadsheets highlighting contract rates, billed rates, variance, and auditor remarks for rapid dispute resolution.</a:t>
            </a:r>
          </a:p>
          <a:p>
            <a:pPr>
              <a:defRPr sz="1300" b="1">
                <a:solidFill>
                  <a:srgbClr val="0D9488"/>
                </a:solidFill>
                <a:latin typeface="Book Antiqua"/>
              </a:defRPr>
            </a:pPr>
            <a:r>
              <a:t>✔  B2B Dispute Resolution Tool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  <a:latin typeface="Book Antiqua"/>
              </a:defRPr>
            </a:pPr>
            <a:r>
              <a:t>   Provides standard, objective data reports to quickly resolve billing disagreements with TPA partners, avoiding payout delays.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0116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Payer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Billed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HDFC ERGO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ICU Rent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Book Antiqua"/>
                        </a:defRPr>
                      </a:pPr>
                      <a:r>
                        <a:t>+1,000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GIPSA PPN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Lab CUE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Book Antiqua"/>
                        </a:defRPr>
                      </a:pPr>
                      <a:r>
                        <a:t>+40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IOCL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OT Gr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Book Antiqua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Book Antiqua"/>
              </a:defRPr>
            </a:pPr>
            <a:r>
              <a:t>REVENUE ASSURANCE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Book Antiqua"/>
              </a:defRPr>
            </a:pPr>
            <a:r>
              <a:t>The Core Value: Fast, Reliable, and Accurate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Book Antiqua"/>
              </a:defRPr>
            </a:pPr>
            <a:r>
              <a:t>Bihani Rashmi &amp; Co, Chartered Accountants  |  Healthcare Audit &amp; Margin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5603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D9488"/>
                </a:solidFill>
                <a:latin typeface="Book Antiqua"/>
              </a:defRPr>
            </a:pPr>
            <a:r>
              <a:t>⚡  Faster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Book Antiqua"/>
              </a:defRPr>
            </a:pPr>
            <a:r>
              <a:t>Reduces billing audit cycles from hours to sub-seconds per file, enabling real-time checkout validations.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5603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D9488"/>
                </a:solidFill>
                <a:latin typeface="Book Antiqua"/>
              </a:defRPr>
            </a:pPr>
            <a:r>
              <a:t>🔒  Reliable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Book Antiqua"/>
              </a:defRPr>
            </a:pPr>
            <a:r>
              <a:t>Pre-seeded rulesets eliminate subjectivity, ensuring that contract clauses are applied consistently across all billing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25603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D9488"/>
                </a:solidFill>
                <a:latin typeface="Book Antiqua"/>
              </a:defRPr>
            </a:pPr>
            <a:r>
              <a:t>🎯  Accurate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Book Antiqua"/>
              </a:defRPr>
            </a:pPr>
            <a:r>
              <a:t>Multi-level checks detect hidden anomalies (such as room rent tiers, time-slabs, and surgeon-to-anesthesia caps) with zero mathematical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11680"/>
            <a:ext cx="256032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D9488"/>
                </a:solidFill>
                <a:latin typeface="Book Antiqua"/>
              </a:defRPr>
            </a:pPr>
            <a:r>
              <a:t>👥  Optimized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Book Antiqua"/>
              </a:defRPr>
            </a:pPr>
            <a:r>
              <a:t>Cuts administrative checking overhead by 99%, allowing your audit team to focus on recovery and settlement instead of manual calculations.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1299</Words>
  <Application>Microsoft Office PowerPoint</Application>
  <PresentationFormat>Widescreen</PresentationFormat>
  <Paragraphs>159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siddhant surana</cp:lastModifiedBy>
  <cp:revision>2</cp:revision>
  <dcterms:created xsi:type="dcterms:W3CDTF">2013-01-27T09:14:16Z</dcterms:created>
  <dcterms:modified xsi:type="dcterms:W3CDTF">2026-07-13T09:45:03Z</dcterms:modified>
  <cp:category/>
</cp:coreProperties>
</file>